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3" r:id="rId12"/>
    <p:sldId id="264" r:id="rId13"/>
    <p:sldId id="265" r:id="rId14"/>
  </p:sldIdLst>
  <p:sldSz cx="14630400" cy="8229600"/>
  <p:notesSz cx="8229600" cy="14630400"/>
  <p:embeddedFontLst>
    <p:embeddedFont>
      <p:font typeface="MS Gothic" panose="020B0609070205080204" pitchFamily="49" charset="-128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Dubai Medium" panose="020B0603030403030204" pitchFamily="34" charset="-78"/>
      <p:regular r:id="rId21"/>
    </p:embeddedFont>
    <p:embeddedFont>
      <p:font typeface="Funnel Sans" panose="020B0604020202020204" charset="0"/>
      <p:regular r:id="rId22"/>
    </p:embeddedFont>
    <p:embeddedFont>
      <p:font typeface="Lucida Sans" panose="020B0602030504020204" pitchFamily="34" charset="0"/>
      <p:regular r:id="rId23"/>
      <p:bold r:id="rId24"/>
      <p:italic r:id="rId25"/>
      <p:boldItalic r:id="rId26"/>
    </p:embeddedFont>
    <p:embeddedFont>
      <p:font typeface="Maiandra GD" panose="020E0502030308020204" pitchFamily="34" charset="0"/>
      <p:regular r:id="rId27"/>
    </p:embeddedFont>
    <p:embeddedFont>
      <p:font typeface="Mona Sans Semi Bold" panose="020B0604020202020204" charset="0"/>
      <p:regular r:id="rId28"/>
    </p:embeddedFont>
  </p:embeddedFontLst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770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794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continental-team-qnfsrwf451.atlassian.net/jira/software/projects/SCRUM/boards/1/timeline?atlOrigin=eyJpIjoiOGI3M2Q2MzIxMTdiNGU1ZWI3NTRjYTdmYjEzZTg2ZTUiLCJwIjoiaiJ9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022223" y="3577724"/>
            <a:ext cx="11249144" cy="891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latin typeface="Maiandra GD" panose="020E0502030308020204" pitchFamily="34" charset="0"/>
                <a:ea typeface="Mona Sans Semi Bold" pitchFamily="34" charset="-122"/>
                <a:cs typeface="Mona Sans Semi Bold" pitchFamily="34" charset="-120"/>
              </a:rPr>
              <a:t>SISTEMA DE GESTIÓN DE TRIAJE DIGITAL PARA CENTROS DE SALUD</a:t>
            </a:r>
            <a:endParaRPr lang="en-US" sz="2800" b="1" dirty="0">
              <a:latin typeface="Maiandra GD" panose="020E0502030308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941836" y="4800735"/>
            <a:ext cx="11249144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b="1" dirty="0">
                <a:latin typeface="Maiandra GD" panose="020E0502030308020204" pitchFamily="34" charset="0"/>
                <a:ea typeface="Funnel Sans" pitchFamily="34" charset="-122"/>
                <a:cs typeface="Funnel Sans" pitchFamily="34" charset="-120"/>
              </a:rPr>
              <a:t>Facultad</a:t>
            </a:r>
            <a:r>
              <a:rPr lang="en-US" sz="240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de Ingeniería — Universidad Continental</a:t>
            </a:r>
            <a:endParaRPr lang="en-US" sz="2400" b="1" dirty="0"/>
          </a:p>
        </p:txBody>
      </p:sp>
      <p:sp>
        <p:nvSpPr>
          <p:cNvPr id="5" name="Text 2"/>
          <p:cNvSpPr/>
          <p:nvPr/>
        </p:nvSpPr>
        <p:spPr>
          <a:xfrm>
            <a:off x="1941836" y="5384074"/>
            <a:ext cx="11249144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b="1" dirty="0">
                <a:latin typeface="Maiandra GD" panose="020E0502030308020204" pitchFamily="34" charset="0"/>
                <a:ea typeface="Funnel Sans" pitchFamily="34" charset="-122"/>
                <a:cs typeface="Funnel Sans" pitchFamily="34" charset="-120"/>
              </a:rPr>
              <a:t>Asignatura</a:t>
            </a:r>
            <a:r>
              <a:rPr lang="en-US" sz="240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</a:t>
            </a:r>
            <a:r>
              <a:rPr lang="en-US" sz="24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Diseño y Análisis de Software</a:t>
            </a:r>
            <a:r>
              <a:rPr lang="en-US" sz="240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NRC: </a:t>
            </a:r>
            <a:r>
              <a:rPr lang="en-US" sz="24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28638</a:t>
            </a:r>
            <a:r>
              <a:rPr lang="en-US" sz="240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Semestre: </a:t>
            </a:r>
            <a:r>
              <a:rPr lang="en-US" sz="24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2026-10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941836" y="5912075"/>
            <a:ext cx="11249144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b="1" dirty="0">
                <a:latin typeface="Funnel Sans" panose="020B0604020202020204" charset="0"/>
                <a:ea typeface="Funnel Sans" pitchFamily="34" charset="-122"/>
                <a:cs typeface="Funnel Sans" pitchFamily="34" charset="-120"/>
              </a:rPr>
              <a:t>Profesora: </a:t>
            </a:r>
            <a:r>
              <a:rPr lang="en-US" sz="2400" dirty="0">
                <a:latin typeface="Maiandra GD" panose="020E0502030308020204" pitchFamily="34" charset="0"/>
                <a:ea typeface="Funnel Sans" pitchFamily="34" charset="-122"/>
                <a:cs typeface="Funnel Sans" pitchFamily="34" charset="-120"/>
              </a:rPr>
              <a:t>Rosario</a:t>
            </a:r>
            <a:r>
              <a:rPr lang="en-US" sz="2400" dirty="0">
                <a:latin typeface="Funnel Sans" panose="020B0604020202020204" charset="0"/>
                <a:ea typeface="Funnel Sans" pitchFamily="34" charset="-122"/>
                <a:cs typeface="Funnel Sans" pitchFamily="34" charset="-120"/>
              </a:rPr>
              <a:t> Delia Osorio Contreras</a:t>
            </a:r>
            <a:r>
              <a:rPr lang="en-US" sz="2400" b="1" dirty="0">
                <a:latin typeface="Funnel Sans" panose="020B0604020202020204" charset="0"/>
                <a:ea typeface="Funnel Sans" pitchFamily="34" charset="-122"/>
                <a:cs typeface="Funnel Sans" pitchFamily="34" charset="-120"/>
              </a:rPr>
              <a:t> · Grupo: </a:t>
            </a:r>
            <a:r>
              <a:rPr lang="en-US" sz="2400" dirty="0">
                <a:latin typeface="Funnel Sans" panose="020B0604020202020204" charset="0"/>
                <a:ea typeface="Funnel Sans" pitchFamily="34" charset="-122"/>
                <a:cs typeface="Funnel Sans" pitchFamily="34" charset="-120"/>
              </a:rPr>
              <a:t>3</a:t>
            </a:r>
            <a:endParaRPr lang="en-US" sz="2400" dirty="0">
              <a:latin typeface="Funnel Sans" panose="020B060402020202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941836" y="6293387"/>
            <a:ext cx="11249144" cy="167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latin typeface="Maiandra GD" panose="020E0502030308020204" pitchFamily="34" charset="0"/>
                <a:ea typeface="Funnel Sans" pitchFamily="34" charset="-122"/>
                <a:cs typeface="Funnel Sans" pitchFamily="34" charset="-120"/>
              </a:rPr>
              <a:t>Integrantes: </a:t>
            </a:r>
            <a:endParaRPr lang="es-P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CARHUAZ BARZOLA JUAN ABEL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HUARACA </a:t>
            </a:r>
            <a:r>
              <a:rPr lang="es-PE" dirty="0" err="1"/>
              <a:t>HUARACA</a:t>
            </a:r>
            <a:r>
              <a:rPr lang="es-PE" dirty="0"/>
              <a:t> FRANK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SILVA CRISPIN YANPOL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ESCOBAR RUIZ KEVIN ELEAZAR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61CF8C9-0C39-434D-9462-A4A8D60B761A}"/>
              </a:ext>
            </a:extLst>
          </p:cNvPr>
          <p:cNvSpPr/>
          <p:nvPr/>
        </p:nvSpPr>
        <p:spPr>
          <a:xfrm>
            <a:off x="12841793" y="7676941"/>
            <a:ext cx="1788607" cy="482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026" name="Picture 2" descr="Continental_es – Educación flexible, personalizable e inteligente">
            <a:extLst>
              <a:ext uri="{FF2B5EF4-FFF2-40B4-BE49-F238E27FC236}">
                <a16:creationId xmlns:a16="http://schemas.microsoft.com/office/drawing/2014/main" id="{CAE7CA89-247C-4FDD-9B30-3F2A29A5B4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54" b="33556"/>
          <a:stretch/>
        </p:blipFill>
        <p:spPr bwMode="auto">
          <a:xfrm>
            <a:off x="1260720" y="1329501"/>
            <a:ext cx="9029909" cy="1860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2E4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3179" y="589478"/>
            <a:ext cx="5287923" cy="7050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923092"/>
            <a:ext cx="652522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73B48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Mona Sans Semi Bold" pitchFamily="34" charset="-120"/>
              </a:rPr>
              <a:t>Índice y estructura del documento</a:t>
            </a:r>
            <a:endParaRPr lang="en-US" sz="31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1716881"/>
            <a:ext cx="755642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s-PE" sz="155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Este proyecto presenta el análisis y diseño de un sistema de </a:t>
            </a:r>
            <a:r>
              <a:rPr lang="es-PE" sz="1550" dirty="0" err="1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triaje</a:t>
            </a:r>
            <a:r>
              <a:rPr lang="es-PE" sz="155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digital para centros de salud. Se organiza en capítulos: Fundamentos y modelado inicial; Análisis de necesidades y requerimientos; Modelos iniciales (funcional, procesos, E-R); Modelos de diseño (clases, secuencias); Metodología SCRUM y planificación; Conclusiones, recomendaciones, referencias y anexos.</a:t>
            </a:r>
            <a:endParaRPr lang="es-PE" sz="1550" dirty="0"/>
          </a:p>
        </p:txBody>
      </p:sp>
      <p:sp>
        <p:nvSpPr>
          <p:cNvPr id="6" name="Shape 3"/>
          <p:cNvSpPr/>
          <p:nvPr/>
        </p:nvSpPr>
        <p:spPr>
          <a:xfrm>
            <a:off x="793790" y="3527822"/>
            <a:ext cx="2386489" cy="2421493"/>
          </a:xfrm>
          <a:prstGeom prst="roundRect">
            <a:avLst>
              <a:gd name="adj" fmla="val 349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9768" y="3733800"/>
            <a:ext cx="197453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1. Fundamentos</a:t>
            </a:r>
            <a:endParaRPr lang="en-US" sz="1950" b="1" dirty="0"/>
          </a:p>
        </p:txBody>
      </p:sp>
      <p:sp>
        <p:nvSpPr>
          <p:cNvPr id="8" name="Text 5"/>
          <p:cNvSpPr/>
          <p:nvPr/>
        </p:nvSpPr>
        <p:spPr>
          <a:xfrm>
            <a:off x="999768" y="4163020"/>
            <a:ext cx="197453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Presentación, justificación, objetivos y alcance.</a:t>
            </a:r>
            <a:endParaRPr lang="en-US" sz="1550" b="1" dirty="0"/>
          </a:p>
        </p:txBody>
      </p:sp>
      <p:sp>
        <p:nvSpPr>
          <p:cNvPr id="9" name="Shape 6"/>
          <p:cNvSpPr/>
          <p:nvPr/>
        </p:nvSpPr>
        <p:spPr>
          <a:xfrm>
            <a:off x="3378637" y="3527822"/>
            <a:ext cx="2386608" cy="2421493"/>
          </a:xfrm>
          <a:prstGeom prst="roundRect">
            <a:avLst>
              <a:gd name="adj" fmla="val 349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84615" y="3733800"/>
            <a:ext cx="197465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2. Requerimientos</a:t>
            </a:r>
            <a:endParaRPr lang="en-US" sz="1950" b="1" dirty="0"/>
          </a:p>
        </p:txBody>
      </p:sp>
      <p:sp>
        <p:nvSpPr>
          <p:cNvPr id="11" name="Text 8"/>
          <p:cNvSpPr/>
          <p:nvPr/>
        </p:nvSpPr>
        <p:spPr>
          <a:xfrm>
            <a:off x="3584615" y="4473178"/>
            <a:ext cx="197465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Necesidades de usuarios, RF, RNF y requerimientos de dominio.</a:t>
            </a:r>
            <a:endParaRPr lang="en-US" sz="1550" b="1" dirty="0"/>
          </a:p>
        </p:txBody>
      </p:sp>
      <p:sp>
        <p:nvSpPr>
          <p:cNvPr id="12" name="Shape 9"/>
          <p:cNvSpPr/>
          <p:nvPr/>
        </p:nvSpPr>
        <p:spPr>
          <a:xfrm>
            <a:off x="5963603" y="3527822"/>
            <a:ext cx="2386608" cy="2421493"/>
          </a:xfrm>
          <a:prstGeom prst="roundRect">
            <a:avLst>
              <a:gd name="adj" fmla="val 349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69581" y="3733800"/>
            <a:ext cx="197465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3–4. Modelos</a:t>
            </a:r>
            <a:endParaRPr lang="en-US" sz="1950" b="1" dirty="0"/>
          </a:p>
        </p:txBody>
      </p:sp>
      <p:sp>
        <p:nvSpPr>
          <p:cNvPr id="14" name="Text 11"/>
          <p:cNvSpPr/>
          <p:nvPr/>
        </p:nvSpPr>
        <p:spPr>
          <a:xfrm>
            <a:off x="6169581" y="4163020"/>
            <a:ext cx="197465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Diagramas funcionales, de procesos, clases y secuencias.</a:t>
            </a:r>
            <a:endParaRPr lang="en-US" sz="1550" b="1" dirty="0"/>
          </a:p>
        </p:txBody>
      </p:sp>
      <p:sp>
        <p:nvSpPr>
          <p:cNvPr id="15" name="Shape 12"/>
          <p:cNvSpPr/>
          <p:nvPr/>
        </p:nvSpPr>
        <p:spPr>
          <a:xfrm>
            <a:off x="793790" y="6147673"/>
            <a:ext cx="7556421" cy="1158716"/>
          </a:xfrm>
          <a:prstGeom prst="roundRect">
            <a:avLst>
              <a:gd name="adj" fmla="val 7194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9768" y="635365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5. Metodología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999768" y="6782872"/>
            <a:ext cx="7144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SCRUM, backlog, sprints y herramientas.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2E4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79" y="589478"/>
            <a:ext cx="5287923" cy="7050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07434" y="714764"/>
            <a:ext cx="652914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6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Contexto, problema y justificación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878256" y="1438156"/>
            <a:ext cx="755642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155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 muchos centros de salud del Perú el triaje se realiza de forma manual o con herramientas parciales. Esto genera tiempos de espera largos, errores de priorización y sobrecarga del personal. El proyecto propone un sistema digital basado en reglas clínicas que permite registrar, evaluar y clasificar automáticamente a pacientes, mejorando precisión, trazabilidad y toma de decisiones.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878256" y="3207320"/>
            <a:ext cx="7556421" cy="1160740"/>
          </a:xfrm>
          <a:prstGeom prst="roundRect">
            <a:avLst>
              <a:gd name="adj" fmla="val 7182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6670" y="3253113"/>
            <a:ext cx="248007" cy="1983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8454" y="3370970"/>
            <a:ext cx="67133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ODS vinculado: ODS 3 — Salud y bienestar. Beneficiarios: hospitales, postas y clínicas del sector público y privado.</a:t>
            </a:r>
            <a:endParaRPr lang="en-US" sz="155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F76829B-FEA2-4F0C-87B8-7E915054E20F}"/>
              </a:ext>
            </a:extLst>
          </p:cNvPr>
          <p:cNvSpPr/>
          <p:nvPr/>
        </p:nvSpPr>
        <p:spPr>
          <a:xfrm>
            <a:off x="12841793" y="7676941"/>
            <a:ext cx="1788607" cy="482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425" y="633497"/>
            <a:ext cx="587561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4400" b="1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Objetivos y solución propuesta</a:t>
            </a:r>
            <a:endParaRPr lang="en-US" sz="4400" b="1" dirty="0"/>
          </a:p>
        </p:txBody>
      </p:sp>
      <p:sp>
        <p:nvSpPr>
          <p:cNvPr id="3" name="Text 1"/>
          <p:cNvSpPr/>
          <p:nvPr/>
        </p:nvSpPr>
        <p:spPr>
          <a:xfrm>
            <a:off x="837425" y="1733075"/>
            <a:ext cx="1262808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Objetivo general: </a:t>
            </a:r>
            <a:r>
              <a:rPr lang="en-US" sz="20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Diseñar un sistema de triaje digital basado en reglas clínicas parametrizables para registrar pacientes, clasificar su prioridad y optimizar la gestión de atención.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25" y="3197919"/>
            <a:ext cx="1373508" cy="1716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67298" y="3233841"/>
            <a:ext cx="2776102" cy="363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Registro estructurado</a:t>
            </a:r>
            <a:endParaRPr lang="en-US" sz="1950" b="1" dirty="0"/>
          </a:p>
        </p:txBody>
      </p:sp>
      <p:sp>
        <p:nvSpPr>
          <p:cNvPr id="6" name="Text 3"/>
          <p:cNvSpPr/>
          <p:nvPr/>
        </p:nvSpPr>
        <p:spPr>
          <a:xfrm>
            <a:off x="2188671" y="3515097"/>
            <a:ext cx="2882148" cy="148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155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Captura rápida de datos personales, signos vitales y síntomas en interfaz pensada para uso clínico.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986" y="3043504"/>
            <a:ext cx="1421874" cy="17772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84764" y="3151462"/>
            <a:ext cx="2627436" cy="363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Motor de reglas</a:t>
            </a:r>
            <a:endParaRPr lang="en-US" sz="1950" b="1" dirty="0"/>
          </a:p>
        </p:txBody>
      </p:sp>
      <p:sp>
        <p:nvSpPr>
          <p:cNvPr id="9" name="Text 5"/>
          <p:cNvSpPr/>
          <p:nvPr/>
        </p:nvSpPr>
        <p:spPr>
          <a:xfrm>
            <a:off x="6684764" y="3569845"/>
            <a:ext cx="2238172" cy="1116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155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Clasificación automática configurable según protocolos MINSA o directrices internas.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302" y="3043504"/>
            <a:ext cx="1421874" cy="17772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15080" y="3043504"/>
            <a:ext cx="2969538" cy="727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Cola priorizada en tiempo real</a:t>
            </a:r>
            <a:endParaRPr lang="en-US" sz="1950" b="1" dirty="0"/>
          </a:p>
        </p:txBody>
      </p:sp>
      <p:sp>
        <p:nvSpPr>
          <p:cNvPr id="12" name="Text 7"/>
          <p:cNvSpPr/>
          <p:nvPr/>
        </p:nvSpPr>
        <p:spPr>
          <a:xfrm>
            <a:off x="11115080" y="3659769"/>
            <a:ext cx="2882274" cy="148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155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Visualización de la lista de espera ordenada por prioridad, con estados: en espera, en atención, atendido.</a:t>
            </a:r>
            <a:endParaRPr lang="en-US" sz="155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1DE93A4-5D65-40B1-BA7D-A96DFE7BCCD4}"/>
              </a:ext>
            </a:extLst>
          </p:cNvPr>
          <p:cNvSpPr/>
          <p:nvPr/>
        </p:nvSpPr>
        <p:spPr>
          <a:xfrm>
            <a:off x="12841793" y="7676941"/>
            <a:ext cx="1788607" cy="482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75826" y="5415212"/>
            <a:ext cx="6788110" cy="3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latin typeface="Lucida Sans" panose="020B0602030504020204" pitchFamily="34" charset="0"/>
                <a:ea typeface="Mona Sans Semi Bold" pitchFamily="34" charset="-122"/>
                <a:cs typeface="Mona Sans Semi Bold" pitchFamily="34" charset="-120"/>
              </a:rPr>
              <a:t>Modelado funcional y casos de uso (resumen)</a:t>
            </a:r>
            <a:endParaRPr lang="en-US" sz="2400" b="1" dirty="0">
              <a:latin typeface="Lucida Sans" panose="020B0602030504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375826" y="5986221"/>
            <a:ext cx="12227362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700"/>
              </a:lnSpc>
              <a:buNone/>
            </a:pPr>
            <a:r>
              <a:rPr lang="en-US" sz="160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Actores principales: </a:t>
            </a:r>
            <a:r>
              <a:rPr lang="en-US" sz="16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Personal de salud, Médico y Administrador. </a:t>
            </a:r>
          </a:p>
          <a:p>
            <a:pPr marL="0" indent="0" algn="just">
              <a:lnSpc>
                <a:spcPts val="1700"/>
              </a:lnSpc>
              <a:buNone/>
            </a:pPr>
            <a:r>
              <a:rPr lang="en-US" sz="1600" b="1" dirty="0" err="1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Casos</a:t>
            </a:r>
            <a:r>
              <a:rPr lang="en-US" sz="160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de uso clave: </a:t>
            </a:r>
            <a:r>
              <a:rPr lang="en-US" sz="16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Iniciar sesión, Registrar paciente, Registrar síntomas y signos, Clasificar paciente automáticamente, Generar y visualizar cola, Gestionar usuarios y </a:t>
            </a:r>
            <a:r>
              <a:rPr lang="en-US" sz="1600" dirty="0" err="1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reportes</a:t>
            </a:r>
            <a:r>
              <a:rPr lang="en-US" sz="16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</a:p>
          <a:p>
            <a:pPr marL="0" indent="0" algn="just">
              <a:lnSpc>
                <a:spcPts val="1700"/>
              </a:lnSpc>
              <a:buNone/>
            </a:pPr>
            <a:r>
              <a:rPr lang="en-US" sz="16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El sistema integra verificación de paciente, registro y ejecución del motor de reglas para asignar prioridad.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201460" y="7225427"/>
            <a:ext cx="12227362" cy="567095"/>
          </a:xfrm>
          <a:prstGeom prst="roundRect">
            <a:avLst>
              <a:gd name="adj" fmla="val 11484"/>
            </a:avLst>
          </a:prstGeom>
          <a:solidFill>
            <a:srgbClr val="D4D6D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826" y="7418129"/>
            <a:ext cx="193715" cy="1550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05213" y="7385209"/>
            <a:ext cx="11568589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El diagrama de contexto se incluye como evidencia gráfica y referencia del alcance funcional.</a:t>
            </a:r>
            <a:endParaRPr lang="en-US" sz="16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3BCDB57-DF5D-406D-94E5-802442CA4F8F}"/>
              </a:ext>
            </a:extLst>
          </p:cNvPr>
          <p:cNvSpPr/>
          <p:nvPr/>
        </p:nvSpPr>
        <p:spPr>
          <a:xfrm>
            <a:off x="12841793" y="7792522"/>
            <a:ext cx="1788607" cy="437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E00276C-3276-45FC-A648-A0E8A07E6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9363" y="663984"/>
            <a:ext cx="7831555" cy="4858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86866" y="4012954"/>
            <a:ext cx="415563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latin typeface="Kozuka Gothic Pro M" panose="020B0700000000000000" pitchFamily="34" charset="-128"/>
                <a:ea typeface="Kozuka Gothic Pro M" panose="020B0700000000000000" pitchFamily="34" charset="-128"/>
                <a:cs typeface="Mona Sans Semi Bold" pitchFamily="34" charset="-120"/>
              </a:rPr>
              <a:t>Modelo de procesos (BPMN) — flujo de triaje</a:t>
            </a:r>
            <a:endParaRPr lang="en-US" sz="1550" b="1" dirty="0">
              <a:latin typeface="Kozuka Gothic Pro M" panose="020B0700000000000000" pitchFamily="34" charset="-128"/>
              <a:ea typeface="Kozuka Gothic Pro M" panose="020B0700000000000000" pitchFamily="34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165324" y="1990725"/>
            <a:ext cx="2388751" cy="278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endParaRPr lang="en-US" sz="1600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 rotWithShape="1">
          <a:blip r:embed="rId3"/>
          <a:srcRect l="39803" r="39824"/>
          <a:stretch/>
        </p:blipFill>
        <p:spPr>
          <a:xfrm>
            <a:off x="6584282" y="4088121"/>
            <a:ext cx="1568777" cy="43575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82133" y="4517292"/>
            <a:ext cx="1760722" cy="220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Verificar Existencia</a:t>
            </a:r>
            <a:endParaRPr lang="en-US" sz="1350" b="1" dirty="0"/>
          </a:p>
        </p:txBody>
      </p:sp>
      <p:sp>
        <p:nvSpPr>
          <p:cNvPr id="7" name="Text 3"/>
          <p:cNvSpPr/>
          <p:nvPr/>
        </p:nvSpPr>
        <p:spPr>
          <a:xfrm>
            <a:off x="8282133" y="4828003"/>
            <a:ext cx="2699776" cy="26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Comprobar si el paciente está en el sistema.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184" y="4130072"/>
            <a:ext cx="234763" cy="234763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21465" y="4990870"/>
            <a:ext cx="234763" cy="23476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694485" y="5293716"/>
            <a:ext cx="1760723" cy="220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400" b="1" dirty="0"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Registrar Datos</a:t>
            </a:r>
            <a:endParaRPr lang="en-US" sz="1400" b="1" dirty="0"/>
          </a:p>
        </p:txBody>
      </p:sp>
      <p:sp>
        <p:nvSpPr>
          <p:cNvPr id="11" name="Text 5"/>
          <p:cNvSpPr/>
          <p:nvPr/>
        </p:nvSpPr>
        <p:spPr>
          <a:xfrm>
            <a:off x="3755432" y="5648039"/>
            <a:ext cx="2699776" cy="26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11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Capturar o actualizar datos personales y antecedentes.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8282133" y="6266905"/>
            <a:ext cx="1760722" cy="220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Tomar Signos</a:t>
            </a:r>
            <a:endParaRPr lang="en-US" sz="1350" b="1" dirty="0"/>
          </a:p>
        </p:txBody>
      </p:sp>
      <p:sp>
        <p:nvSpPr>
          <p:cNvPr id="13" name="Text 7"/>
          <p:cNvSpPr/>
          <p:nvPr/>
        </p:nvSpPr>
        <p:spPr>
          <a:xfrm>
            <a:off x="8282133" y="6576014"/>
            <a:ext cx="2699776" cy="26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Medir signos vitales y documentar valores claves.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96184" y="5851668"/>
            <a:ext cx="234763" cy="23476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588527" y="7255403"/>
            <a:ext cx="1760723" cy="220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b="1" dirty="0"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Evaluar Prioridad</a:t>
            </a:r>
            <a:endParaRPr lang="en-US" sz="1350" b="1" dirty="0"/>
          </a:p>
        </p:txBody>
      </p:sp>
      <p:sp>
        <p:nvSpPr>
          <p:cNvPr id="16" name="Text 9"/>
          <p:cNvSpPr/>
          <p:nvPr/>
        </p:nvSpPr>
        <p:spPr>
          <a:xfrm>
            <a:off x="3649474" y="7523867"/>
            <a:ext cx="2699776" cy="26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Motor de reglas asigna prioridad y genera la cola.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21465" y="6712466"/>
            <a:ext cx="234763" cy="234763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8CEFB186-A345-43B9-9C39-74985B194D5A}"/>
              </a:ext>
            </a:extLst>
          </p:cNvPr>
          <p:cNvSpPr/>
          <p:nvPr/>
        </p:nvSpPr>
        <p:spPr>
          <a:xfrm>
            <a:off x="12841793" y="7676941"/>
            <a:ext cx="1788607" cy="482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553D3AAE-1538-4925-A738-05002DC25E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8436" y="230288"/>
            <a:ext cx="7147839" cy="3765551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772CD4BF-18AE-41C2-85E0-869FEFFE5144}"/>
              </a:ext>
            </a:extLst>
          </p:cNvPr>
          <p:cNvSpPr txBox="1"/>
          <p:nvPr/>
        </p:nvSpPr>
        <p:spPr>
          <a:xfrm>
            <a:off x="10914595" y="920711"/>
            <a:ext cx="340042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Flujo resumido: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Paciente solicita atención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Personal solicita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Sistema verifica existencia Registro o recuperación de antecedentes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Toma de signos vitales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Motor de reglas evalúa y asigna prioridad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Paciente derivado a cola por orden de prioridad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Médico atiende y registra diagnóstico final. </a:t>
            </a:r>
          </a:p>
          <a:p>
            <a:endParaRPr lang="es-MX" dirty="0"/>
          </a:p>
          <a:p>
            <a:r>
              <a:rPr lang="es-MX" dirty="0"/>
              <a:t>El proceso contempla decisiones de existencia previa y detección de signos de alarma. </a:t>
            </a:r>
            <a:endParaRPr lang="es-P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4771430"/>
            <a:ext cx="758797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Modelo de datos (ER) y consideraciones</a:t>
            </a:r>
            <a:endParaRPr lang="en-US" sz="3100" b="1" dirty="0"/>
          </a:p>
        </p:txBody>
      </p:sp>
      <p:sp>
        <p:nvSpPr>
          <p:cNvPr id="4" name="Text 1"/>
          <p:cNvSpPr/>
          <p:nvPr/>
        </p:nvSpPr>
        <p:spPr>
          <a:xfrm>
            <a:off x="793790" y="5565219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Modelo E-R con entidades principales: Paciente, Triaje, Cita, Empleado (personal de salud), Médico, Reportes y Estado_Cita. El diseño normalizado (3FN) facilita trazabilidad y consultas para generación de reportes. Se definen claves primarias, relaciones 1..* y atributos necesarios para trazabilidad clínica y auditoría.</a:t>
            </a:r>
            <a:endParaRPr lang="en-US" sz="1550" b="1" dirty="0"/>
          </a:p>
        </p:txBody>
      </p:sp>
      <p:sp>
        <p:nvSpPr>
          <p:cNvPr id="5" name="Shape 2"/>
          <p:cNvSpPr/>
          <p:nvPr/>
        </p:nvSpPr>
        <p:spPr>
          <a:xfrm>
            <a:off x="793790" y="6741081"/>
            <a:ext cx="13042821" cy="843201"/>
          </a:xfrm>
          <a:prstGeom prst="roundRect">
            <a:avLst>
              <a:gd name="adj" fmla="val 9886"/>
            </a:avLst>
          </a:prstGeom>
          <a:solidFill>
            <a:srgbClr val="FCF2B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7043976"/>
            <a:ext cx="248007" cy="1983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38513" y="6988969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Importante: garantizar protección de datos sensibles según requisitos de seguridad del sistema (RNF06).</a:t>
            </a:r>
            <a:endParaRPr lang="en-US" sz="155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87A9A0B-E442-47BE-9B05-098AC7D16D60}"/>
              </a:ext>
            </a:extLst>
          </p:cNvPr>
          <p:cNvSpPr/>
          <p:nvPr/>
        </p:nvSpPr>
        <p:spPr>
          <a:xfrm>
            <a:off x="12841793" y="7676941"/>
            <a:ext cx="1788607" cy="482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1A6315F-5588-4322-8499-76B7FBD49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" y="278914"/>
            <a:ext cx="9277350" cy="42972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A1D8F61-9D46-4930-B77A-7D88A352BECC}"/>
              </a:ext>
            </a:extLst>
          </p:cNvPr>
          <p:cNvSpPr/>
          <p:nvPr/>
        </p:nvSpPr>
        <p:spPr>
          <a:xfrm>
            <a:off x="12841793" y="7676941"/>
            <a:ext cx="1788607" cy="482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03233A4-4B61-408C-BEA1-43777C0CE0B1}"/>
              </a:ext>
            </a:extLst>
          </p:cNvPr>
          <p:cNvSpPr txBox="1"/>
          <p:nvPr/>
        </p:nvSpPr>
        <p:spPr>
          <a:xfrm>
            <a:off x="514350" y="533400"/>
            <a:ext cx="5657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/>
              <a:t>REQUISITOS FUNCIONALES</a:t>
            </a:r>
            <a:endParaRPr lang="es-PE" sz="36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7CBF399-7D43-4457-BD60-654E1E91048F}"/>
              </a:ext>
            </a:extLst>
          </p:cNvPr>
          <p:cNvSpPr txBox="1"/>
          <p:nvPr/>
        </p:nvSpPr>
        <p:spPr>
          <a:xfrm>
            <a:off x="10173746" y="2452390"/>
            <a:ext cx="3562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REQUISITOS NO FUNCIONALES</a:t>
            </a:r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365711-E1B7-4585-B003-B61A666A025B}"/>
              </a:ext>
            </a:extLst>
          </p:cNvPr>
          <p:cNvSpPr txBox="1"/>
          <p:nvPr/>
        </p:nvSpPr>
        <p:spPr>
          <a:xfrm>
            <a:off x="514350" y="1260038"/>
            <a:ext cx="1095375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b="1" dirty="0"/>
              <a:t>RF01: </a:t>
            </a:r>
            <a:r>
              <a:rPr lang="es-MX" sz="2400" dirty="0"/>
              <a:t>El sistema debe permitir registrar los datos personales del paciente.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b="1" dirty="0"/>
              <a:t>RF02:</a:t>
            </a:r>
            <a:r>
              <a:rPr lang="es-MX" sz="2400" dirty="0"/>
              <a:t> El sistema debe permitir consultar la información registrada de cada paciente.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b="1" dirty="0"/>
              <a:t>RF03:</a:t>
            </a:r>
            <a:r>
              <a:rPr lang="es-MX" sz="2400" dirty="0"/>
              <a:t> El sistema debe permitir registrar los síntomas presentados por el paciente.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b="1" dirty="0"/>
              <a:t>RF04: </a:t>
            </a:r>
            <a:r>
              <a:rPr lang="es-MX" sz="2400" dirty="0"/>
              <a:t>El sistema debe permitir registrar los signos vitales del paciente, como temperatura, presión arterial, frecuencia cardíaca y frecuencia respiratoria.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b="1" dirty="0"/>
              <a:t>RF05: </a:t>
            </a:r>
            <a:r>
              <a:rPr lang="es-MX" sz="2400" dirty="0"/>
              <a:t>El sistema debe clasificar automáticamente al paciente mediante reglas clínicas básicas.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b="1" dirty="0"/>
              <a:t>RF06: </a:t>
            </a:r>
            <a:r>
              <a:rPr lang="es-MX" sz="2400" dirty="0"/>
              <a:t>El sistema debe asignar una categoría de prioridad al paciente: leve, moderado o grave.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b="1" dirty="0"/>
              <a:t>RF07: </a:t>
            </a:r>
            <a:r>
              <a:rPr lang="es-MX" sz="2400" dirty="0"/>
              <a:t>El sistema debe generar una cola de atención ordenada según el nivel de prioridad.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b="1" dirty="0"/>
              <a:t>RF08: </a:t>
            </a:r>
            <a:r>
              <a:rPr lang="es-MX" sz="2400" dirty="0"/>
              <a:t>El sistema debe permitir visualizar el estado del paciente: en espera, en atención o atendido.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b="1" dirty="0"/>
              <a:t>RF09: </a:t>
            </a:r>
            <a:r>
              <a:rPr lang="es-MX" sz="2400" dirty="0"/>
              <a:t>El sistema debe permitir el inicio y cierre de sesión de usuarios autorizados.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b="1" dirty="0"/>
              <a:t>RF10: </a:t>
            </a:r>
            <a:r>
              <a:rPr lang="es-MX" sz="2400" dirty="0"/>
              <a:t>El sistema debe generar reportes básicos de atención, como pacientes registrados y pacientes clasificados por prioridad. </a:t>
            </a:r>
          </a:p>
          <a:p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A5156C1-4ADE-4D23-A2CD-377DE9F0CDDC}"/>
              </a:ext>
            </a:extLst>
          </p:cNvPr>
          <p:cNvSpPr/>
          <p:nvPr/>
        </p:nvSpPr>
        <p:spPr>
          <a:xfrm>
            <a:off x="10285010" y="2483882"/>
            <a:ext cx="2575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REQUISITOS DE DOMINIO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10836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A1D8F61-9D46-4930-B77A-7D88A352BECC}"/>
              </a:ext>
            </a:extLst>
          </p:cNvPr>
          <p:cNvSpPr/>
          <p:nvPr/>
        </p:nvSpPr>
        <p:spPr>
          <a:xfrm>
            <a:off x="12841793" y="7676941"/>
            <a:ext cx="1788607" cy="482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7CBF399-7D43-4457-BD60-654E1E91048F}"/>
              </a:ext>
            </a:extLst>
          </p:cNvPr>
          <p:cNvSpPr txBox="1"/>
          <p:nvPr/>
        </p:nvSpPr>
        <p:spPr>
          <a:xfrm>
            <a:off x="652373" y="709119"/>
            <a:ext cx="6503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/>
              <a:t>REQUISITOS NO FUNCIONALES</a:t>
            </a:r>
            <a:endParaRPr lang="es-PE" sz="36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40E7150-BBAB-42A1-9B34-575E888DC343}"/>
              </a:ext>
            </a:extLst>
          </p:cNvPr>
          <p:cNvSpPr/>
          <p:nvPr/>
        </p:nvSpPr>
        <p:spPr>
          <a:xfrm>
            <a:off x="652373" y="1596571"/>
            <a:ext cx="9623741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Usabilidad </a:t>
            </a:r>
            <a:endParaRPr lang="es-PE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s-MX" dirty="0">
                <a:solidFill>
                  <a:srgbClr val="000000"/>
                </a:solidFill>
                <a:latin typeface="Arial" panose="020B0604020202020204" pitchFamily="34" charset="0"/>
              </a:rPr>
              <a:t>● </a:t>
            </a:r>
            <a:r>
              <a:rPr lang="es-MX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RNF01: </a:t>
            </a:r>
            <a:r>
              <a:rPr lang="es-MX" dirty="0">
                <a:solidFill>
                  <a:srgbClr val="000000"/>
                </a:solidFill>
                <a:latin typeface="Times New Roman" panose="02020603050405020304" pitchFamily="18" charset="0"/>
              </a:rPr>
              <a:t>El sistema debe contar con una interfaz intuitiva y fácil de usar para el personal de salud. </a:t>
            </a:r>
          </a:p>
          <a:p>
            <a:r>
              <a:rPr lang="es-MX" dirty="0">
                <a:solidFill>
                  <a:srgbClr val="000000"/>
                </a:solidFill>
                <a:latin typeface="Arial" panose="020B0604020202020204" pitchFamily="34" charset="0"/>
              </a:rPr>
              <a:t>● </a:t>
            </a:r>
            <a:r>
              <a:rPr lang="es-MX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RNF02: </a:t>
            </a:r>
            <a:r>
              <a:rPr lang="es-MX" dirty="0">
                <a:solidFill>
                  <a:srgbClr val="000000"/>
                </a:solidFill>
                <a:latin typeface="Times New Roman" panose="02020603050405020304" pitchFamily="18" charset="0"/>
              </a:rPr>
              <a:t>El sistema debe permitir registrar la información inicial del paciente en un tiempo máximo de 1 minuto. </a:t>
            </a:r>
          </a:p>
          <a:p>
            <a:endParaRPr lang="es-PE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s-PE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Eficiencia </a:t>
            </a:r>
            <a:endParaRPr lang="es-PE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s-MX" dirty="0">
                <a:solidFill>
                  <a:srgbClr val="000000"/>
                </a:solidFill>
                <a:latin typeface="Arial" panose="020B0604020202020204" pitchFamily="34" charset="0"/>
              </a:rPr>
              <a:t>● </a:t>
            </a:r>
            <a:r>
              <a:rPr lang="es-MX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RNF03: </a:t>
            </a:r>
            <a:r>
              <a:rPr lang="es-MX" dirty="0">
                <a:solidFill>
                  <a:srgbClr val="000000"/>
                </a:solidFill>
                <a:latin typeface="Times New Roman" panose="02020603050405020304" pitchFamily="18" charset="0"/>
              </a:rPr>
              <a:t>El sistema debe procesar la clasificación del paciente en un tiempo menor a 2 segundos. </a:t>
            </a:r>
          </a:p>
          <a:p>
            <a:r>
              <a:rPr lang="es-MX" dirty="0">
                <a:solidFill>
                  <a:srgbClr val="000000"/>
                </a:solidFill>
                <a:latin typeface="Arial" panose="020B0604020202020204" pitchFamily="34" charset="0"/>
              </a:rPr>
              <a:t>● </a:t>
            </a:r>
            <a:r>
              <a:rPr lang="es-MX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RNF04: </a:t>
            </a:r>
            <a:r>
              <a:rPr lang="es-MX" dirty="0">
                <a:solidFill>
                  <a:srgbClr val="000000"/>
                </a:solidFill>
                <a:latin typeface="Times New Roman" panose="02020603050405020304" pitchFamily="18" charset="0"/>
              </a:rPr>
              <a:t>El sistema debe actualizar la cola de atención en un tiempo máximo de 3 segundos. </a:t>
            </a:r>
          </a:p>
          <a:p>
            <a:endParaRPr lang="es-PE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s-PE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Confiabilidad </a:t>
            </a:r>
            <a:endParaRPr lang="es-PE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s-MX" dirty="0">
                <a:solidFill>
                  <a:srgbClr val="000000"/>
                </a:solidFill>
                <a:latin typeface="Arial" panose="020B0604020202020204" pitchFamily="34" charset="0"/>
              </a:rPr>
              <a:t>● </a:t>
            </a:r>
            <a:r>
              <a:rPr lang="es-MX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RNF05: </a:t>
            </a:r>
            <a:r>
              <a:rPr lang="es-MX" dirty="0">
                <a:solidFill>
                  <a:srgbClr val="000000"/>
                </a:solidFill>
                <a:latin typeface="Times New Roman" panose="02020603050405020304" pitchFamily="18" charset="0"/>
              </a:rPr>
              <a:t>El sistema debe garantizar resultados consistentes en la clasificación de pacientes. </a:t>
            </a:r>
          </a:p>
          <a:p>
            <a:endParaRPr lang="es-PE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s-PE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Seguridad </a:t>
            </a:r>
            <a:endParaRPr lang="es-PE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s-MX" dirty="0">
                <a:solidFill>
                  <a:srgbClr val="000000"/>
                </a:solidFill>
                <a:latin typeface="Arial" panose="020B0604020202020204" pitchFamily="34" charset="0"/>
              </a:rPr>
              <a:t>● </a:t>
            </a:r>
            <a:r>
              <a:rPr lang="es-MX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RNF06: </a:t>
            </a:r>
            <a:r>
              <a:rPr lang="es-MX" dirty="0">
                <a:solidFill>
                  <a:srgbClr val="000000"/>
                </a:solidFill>
                <a:latin typeface="Times New Roman" panose="02020603050405020304" pitchFamily="18" charset="0"/>
              </a:rPr>
              <a:t>El sistema debe proteger la confidencialidad de los datos personales y clínicos del paciente. </a:t>
            </a:r>
          </a:p>
          <a:p>
            <a:r>
              <a:rPr lang="es-MX" dirty="0">
                <a:solidFill>
                  <a:srgbClr val="000000"/>
                </a:solidFill>
                <a:latin typeface="Arial" panose="020B0604020202020204" pitchFamily="34" charset="0"/>
              </a:rPr>
              <a:t>● </a:t>
            </a:r>
            <a:r>
              <a:rPr lang="es-MX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RNF07: </a:t>
            </a:r>
            <a:r>
              <a:rPr lang="es-MX" dirty="0">
                <a:solidFill>
                  <a:srgbClr val="000000"/>
                </a:solidFill>
                <a:latin typeface="Times New Roman" panose="02020603050405020304" pitchFamily="18" charset="0"/>
              </a:rPr>
              <a:t>El sistema debe permitir el acceso únicamente a usuarios autorizados. </a:t>
            </a:r>
          </a:p>
          <a:p>
            <a:endParaRPr lang="es-PE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s-PE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Mantenibilidad </a:t>
            </a:r>
            <a:endParaRPr lang="es-PE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s-MX" dirty="0">
                <a:solidFill>
                  <a:srgbClr val="000000"/>
                </a:solidFill>
                <a:latin typeface="Arial" panose="020B0604020202020204" pitchFamily="34" charset="0"/>
              </a:rPr>
              <a:t>● </a:t>
            </a:r>
            <a:r>
              <a:rPr lang="es-MX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RNF08: </a:t>
            </a:r>
            <a:r>
              <a:rPr lang="es-MX" dirty="0">
                <a:solidFill>
                  <a:srgbClr val="000000"/>
                </a:solidFill>
                <a:latin typeface="Times New Roman" panose="02020603050405020304" pitchFamily="18" charset="0"/>
              </a:rPr>
              <a:t>El sistema debe permitir la actualización futura de reglas de clasificación sin afectar el funcionamiento general. </a:t>
            </a:r>
          </a:p>
        </p:txBody>
      </p:sp>
    </p:spTree>
    <p:extLst>
      <p:ext uri="{BB962C8B-B14F-4D97-AF65-F5344CB8AC3E}">
        <p14:creationId xmlns:p14="http://schemas.microsoft.com/office/powerpoint/2010/main" val="3405266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0FA94FB-FB8D-4E44-AE27-07C0A2335256}"/>
              </a:ext>
            </a:extLst>
          </p:cNvPr>
          <p:cNvSpPr/>
          <p:nvPr/>
        </p:nvSpPr>
        <p:spPr>
          <a:xfrm>
            <a:off x="1015999" y="1140419"/>
            <a:ext cx="9013372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PE" sz="2400" b="0" i="0" u="none" strike="noStrike" baseline="0" dirty="0">
              <a:solidFill>
                <a:srgbClr val="000000"/>
              </a:solidFill>
            </a:endParaRPr>
          </a:p>
          <a:p>
            <a:pPr algn="just"/>
            <a:r>
              <a:rPr lang="es-MX" sz="2400" b="1" dirty="0">
                <a:solidFill>
                  <a:srgbClr val="000000"/>
                </a:solidFill>
              </a:rPr>
              <a:t>RD01: </a:t>
            </a:r>
            <a:r>
              <a:rPr lang="es-MX" sz="2400" dirty="0">
                <a:solidFill>
                  <a:srgbClr val="000000"/>
                </a:solidFill>
              </a:rPr>
              <a:t>El sistema debe clasificar a los pacientes según niveles de urgencia definidos para el proceso de </a:t>
            </a:r>
            <a:r>
              <a:rPr lang="es-MX" sz="2400" dirty="0" err="1">
                <a:solidFill>
                  <a:srgbClr val="000000"/>
                </a:solidFill>
              </a:rPr>
              <a:t>triaje</a:t>
            </a:r>
            <a:r>
              <a:rPr lang="es-MX" sz="2400" dirty="0">
                <a:solidFill>
                  <a:srgbClr val="000000"/>
                </a:solidFill>
              </a:rPr>
              <a:t>, tales como leve, moderado y grave. </a:t>
            </a:r>
          </a:p>
          <a:p>
            <a:pPr algn="just"/>
            <a:r>
              <a:rPr lang="es-MX" sz="2400" b="1" dirty="0">
                <a:solidFill>
                  <a:srgbClr val="000000"/>
                </a:solidFill>
              </a:rPr>
              <a:t>RD02: </a:t>
            </a:r>
            <a:r>
              <a:rPr lang="es-MX" sz="2400" dirty="0">
                <a:solidFill>
                  <a:srgbClr val="000000"/>
                </a:solidFill>
              </a:rPr>
              <a:t>El sistema debe considerar síntomas y signos vitales como criterios principales para la evaluación inicial del paciente. </a:t>
            </a:r>
          </a:p>
          <a:p>
            <a:pPr algn="just"/>
            <a:r>
              <a:rPr lang="es-MX" sz="2400" b="1" dirty="0">
                <a:solidFill>
                  <a:srgbClr val="000000"/>
                </a:solidFill>
              </a:rPr>
              <a:t>RD03: </a:t>
            </a:r>
            <a:r>
              <a:rPr lang="es-MX" sz="2400" dirty="0">
                <a:solidFill>
                  <a:srgbClr val="000000"/>
                </a:solidFill>
              </a:rPr>
              <a:t>El sistema debe reflejar el flujo básico del </a:t>
            </a:r>
            <a:r>
              <a:rPr lang="es-MX" sz="2400" dirty="0" err="1">
                <a:solidFill>
                  <a:srgbClr val="000000"/>
                </a:solidFill>
              </a:rPr>
              <a:t>triaje</a:t>
            </a:r>
            <a:r>
              <a:rPr lang="es-MX" sz="2400" dirty="0">
                <a:solidFill>
                  <a:srgbClr val="000000"/>
                </a:solidFill>
              </a:rPr>
              <a:t> en centros de salud del Perú: ingreso del paciente, registro de datos, evaluación inicial, clasificación, priorización y derivación para atención. </a:t>
            </a:r>
          </a:p>
          <a:p>
            <a:pPr algn="just"/>
            <a:r>
              <a:rPr lang="es-MX" sz="2400" b="1" dirty="0">
                <a:solidFill>
                  <a:srgbClr val="000000"/>
                </a:solidFill>
              </a:rPr>
              <a:t>RD04: </a:t>
            </a:r>
            <a:r>
              <a:rPr lang="es-MX" sz="2400" dirty="0">
                <a:solidFill>
                  <a:srgbClr val="000000"/>
                </a:solidFill>
              </a:rPr>
              <a:t>El sistema debe priorizar la atención de pacientes graves sobre pacientes moderados o leves, siguiendo el principio de atención por nivel de urgencia. </a:t>
            </a:r>
          </a:p>
          <a:p>
            <a:pPr algn="just"/>
            <a:r>
              <a:rPr lang="es-MX" sz="2400" b="1" dirty="0">
                <a:solidFill>
                  <a:srgbClr val="000000"/>
                </a:solidFill>
              </a:rPr>
              <a:t>RD05: </a:t>
            </a:r>
            <a:r>
              <a:rPr lang="es-MX" sz="2400" dirty="0">
                <a:solidFill>
                  <a:srgbClr val="000000"/>
                </a:solidFill>
              </a:rPr>
              <a:t>El sistema debe permitir que las reglas de clasificación puedan adaptarse a lineamientos del Ministerio de Salud del Perú o protocolos internos del establecimiento de salud. </a:t>
            </a:r>
          </a:p>
          <a:p>
            <a:pPr algn="just"/>
            <a:r>
              <a:rPr lang="es-MX" sz="2400" b="1" dirty="0">
                <a:solidFill>
                  <a:srgbClr val="000000"/>
                </a:solidFill>
              </a:rPr>
              <a:t>RD06:</a:t>
            </a:r>
            <a:r>
              <a:rPr lang="es-MX" sz="2400" dirty="0">
                <a:solidFill>
                  <a:srgbClr val="000000"/>
                </a:solidFill>
              </a:rPr>
              <a:t> El sistema debe registrar la prioridad asignada al paciente como parte del resultado del </a:t>
            </a:r>
            <a:r>
              <a:rPr lang="es-MX" sz="2400" dirty="0" err="1">
                <a:solidFill>
                  <a:srgbClr val="000000"/>
                </a:solidFill>
              </a:rPr>
              <a:t>triaje</a:t>
            </a:r>
            <a:r>
              <a:rPr lang="es-MX" sz="2400" dirty="0">
                <a:solidFill>
                  <a:srgbClr val="000000"/>
                </a:solidFill>
              </a:rPr>
              <a:t>, permitiendo su consulta posterior por personal autorizado.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B0FED6-BA40-4258-8E47-08191966EE89}"/>
              </a:ext>
            </a:extLst>
          </p:cNvPr>
          <p:cNvSpPr txBox="1"/>
          <p:nvPr/>
        </p:nvSpPr>
        <p:spPr>
          <a:xfrm>
            <a:off x="1015999" y="491404"/>
            <a:ext cx="6503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/>
              <a:t>REQUISITOS DE DOMINIO</a:t>
            </a:r>
            <a:endParaRPr lang="es-PE" sz="3600" dirty="0"/>
          </a:p>
        </p:txBody>
      </p:sp>
    </p:spTree>
    <p:extLst>
      <p:ext uri="{BB962C8B-B14F-4D97-AF65-F5344CB8AC3E}">
        <p14:creationId xmlns:p14="http://schemas.microsoft.com/office/powerpoint/2010/main" val="2886782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812846" y="5935385"/>
            <a:ext cx="526661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Modelos de diseño: clases y secuencias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10833138" y="1756909"/>
            <a:ext cx="2476462" cy="3358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s-PE" sz="16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Diagrama de clases inicial: </a:t>
            </a:r>
          </a:p>
          <a:p>
            <a:pPr marL="171450" indent="-171450" algn="l">
              <a:lnSpc>
                <a:spcPts val="1450"/>
              </a:lnSpc>
              <a:buFont typeface="Arial" panose="020B0604020202020204" pitchFamily="34" charset="0"/>
              <a:buChar char="•"/>
            </a:pPr>
            <a:r>
              <a:rPr lang="es-PE" sz="16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Paciente</a:t>
            </a:r>
          </a:p>
          <a:p>
            <a:pPr marL="171450" indent="-171450" algn="l">
              <a:lnSpc>
                <a:spcPts val="1450"/>
              </a:lnSpc>
              <a:buFont typeface="Arial" panose="020B0604020202020204" pitchFamily="34" charset="0"/>
              <a:buChar char="•"/>
            </a:pPr>
            <a:r>
              <a:rPr lang="es-PE" sz="1600" dirty="0" err="1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Triaje</a:t>
            </a:r>
            <a:r>
              <a:rPr lang="es-PE" sz="16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</a:p>
          <a:p>
            <a:pPr marL="171450" indent="-171450" algn="l">
              <a:lnSpc>
                <a:spcPts val="1450"/>
              </a:lnSpc>
              <a:buFont typeface="Arial" panose="020B0604020202020204" pitchFamily="34" charset="0"/>
              <a:buChar char="•"/>
            </a:pPr>
            <a:r>
              <a:rPr lang="es-PE" sz="16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Personal de salud</a:t>
            </a:r>
          </a:p>
          <a:p>
            <a:pPr marL="171450" indent="-171450" algn="l">
              <a:lnSpc>
                <a:spcPts val="1450"/>
              </a:lnSpc>
              <a:buFont typeface="Arial" panose="020B0604020202020204" pitchFamily="34" charset="0"/>
              <a:buChar char="•"/>
            </a:pPr>
            <a:r>
              <a:rPr lang="es-PE" sz="16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Medico, </a:t>
            </a:r>
          </a:p>
          <a:p>
            <a:pPr marL="171450" indent="-171450" algn="l">
              <a:lnSpc>
                <a:spcPts val="1450"/>
              </a:lnSpc>
              <a:buFont typeface="Arial" panose="020B0604020202020204" pitchFamily="34" charset="0"/>
              <a:buChar char="•"/>
            </a:pPr>
            <a:r>
              <a:rPr lang="es-PE" sz="16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Reportes  </a:t>
            </a:r>
          </a:p>
          <a:p>
            <a:pPr marL="171450" indent="-171450" algn="l">
              <a:lnSpc>
                <a:spcPts val="1450"/>
              </a:lnSpc>
              <a:buFont typeface="Arial" panose="020B0604020202020204" pitchFamily="34" charset="0"/>
              <a:buChar char="•"/>
            </a:pPr>
            <a:r>
              <a:rPr lang="es-PE" sz="16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Administrador</a:t>
            </a:r>
          </a:p>
          <a:p>
            <a:pPr marL="0" indent="0" algn="just">
              <a:lnSpc>
                <a:spcPts val="1450"/>
              </a:lnSpc>
              <a:buNone/>
            </a:pPr>
            <a:r>
              <a:rPr lang="es-PE" sz="1600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Cada clase contiene operaciones relacionadas. Diagrama de secuencia resume interacción: Personal inicia sesión, registra datos y síntomas; Sistema procesa y muestra prioridad; Médico selecciona paciente y registra atención.</a:t>
            </a:r>
            <a:endParaRPr lang="es-PE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2846" y="6688692"/>
            <a:ext cx="348853" cy="3488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4333" y="6688692"/>
            <a:ext cx="2799159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Separación de responsabilidades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284333" y="6965513"/>
            <a:ext cx="3114913" cy="38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Encapsular motor de reglas para facilitar mantenimiento y actualización (RNF08).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1881" y="6688692"/>
            <a:ext cx="348853" cy="34885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93368" y="6688692"/>
            <a:ext cx="1744385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993368" y="6965513"/>
            <a:ext cx="3114913" cy="38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Autenticación, control de accesos y cifrado recomendados (RNF06).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30916" y="6688692"/>
            <a:ext cx="348853" cy="34885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702403" y="6688692"/>
            <a:ext cx="1744385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Interoperabilidad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9702403" y="6965513"/>
            <a:ext cx="3115032" cy="38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Diseño pensando en HL7 FHIR para futura integración con HIS.</a:t>
            </a:r>
            <a:endParaRPr lang="en-US" sz="12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8CC6A29-FC0F-4EFE-AB7B-57BE5E7CE1D9}"/>
              </a:ext>
            </a:extLst>
          </p:cNvPr>
          <p:cNvSpPr/>
          <p:nvPr/>
        </p:nvSpPr>
        <p:spPr>
          <a:xfrm>
            <a:off x="12841793" y="7676941"/>
            <a:ext cx="1788607" cy="482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4256E56-30AC-49C5-999C-20EB827966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9031" y="242143"/>
            <a:ext cx="7432694" cy="57611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4123611"/>
            <a:ext cx="860500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Metodología SCRUM, backlog y planificación</a:t>
            </a:r>
            <a:endParaRPr lang="en-US" sz="3100" b="1" dirty="0"/>
          </a:p>
        </p:txBody>
      </p:sp>
      <p:sp>
        <p:nvSpPr>
          <p:cNvPr id="4" name="Text 1"/>
          <p:cNvSpPr/>
          <p:nvPr/>
        </p:nvSpPr>
        <p:spPr>
          <a:xfrm>
            <a:off x="793790" y="4917400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 adoptó SCRUM con épicas: gestión de pacientes, registro clínico, clasificación, gestión de cola, seguridad y reportes.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Backlog priorizado con HU1–HU11. Planificación por sprints: Sprint 1 (núcleo: registro e inicio de sesión), Sprint 2 (clasificación y cola), Sprint 3 (reportes y </a:t>
            </a:r>
            <a:r>
              <a:rPr lang="en-US" sz="1550" b="1" dirty="0" err="1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cierre</a:t>
            </a:r>
            <a:r>
              <a:rPr lang="en-US" sz="1550" b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).</a:t>
            </a:r>
            <a:endParaRPr lang="en-US" sz="1550" b="1" dirty="0"/>
          </a:p>
        </p:txBody>
      </p:sp>
      <p:sp>
        <p:nvSpPr>
          <p:cNvPr id="5" name="Shape 2"/>
          <p:cNvSpPr/>
          <p:nvPr/>
        </p:nvSpPr>
        <p:spPr>
          <a:xfrm>
            <a:off x="793790" y="6093262"/>
            <a:ext cx="4215289" cy="1476256"/>
          </a:xfrm>
          <a:prstGeom prst="roundRect">
            <a:avLst>
              <a:gd name="adj" fmla="val 5647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99768" y="62992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Sprint 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9768" y="6728460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Registrar/consultar paciente, registro de signos y login — 22/04 a 06/05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07437" y="6093262"/>
            <a:ext cx="4215408" cy="1476256"/>
          </a:xfrm>
          <a:prstGeom prst="roundRect">
            <a:avLst>
              <a:gd name="adj" fmla="val 5647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13415" y="62992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Sprint 2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413415" y="6728460"/>
            <a:ext cx="380345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Motor de reglas, visualización de prioridad y cola — 07/05 a 20/05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9621203" y="6093262"/>
            <a:ext cx="4215289" cy="1476256"/>
          </a:xfrm>
          <a:prstGeom prst="roundRect">
            <a:avLst>
              <a:gd name="adj" fmla="val 5647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27181" y="62992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Sprint 3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9827181" y="6728460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Cierre de sesión y generación de reportes — 21/05 a 27/05</a:t>
            </a:r>
            <a:endParaRPr lang="en-US" sz="155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0E9CA90-B3DC-4869-AABA-29E86CCE7893}"/>
              </a:ext>
            </a:extLst>
          </p:cNvPr>
          <p:cNvSpPr/>
          <p:nvPr/>
        </p:nvSpPr>
        <p:spPr>
          <a:xfrm>
            <a:off x="12841793" y="7676941"/>
            <a:ext cx="1788607" cy="482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49A9CAF-8B07-4083-89CF-A1A748C2F0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3019"/>
          <a:stretch/>
        </p:blipFill>
        <p:spPr>
          <a:xfrm>
            <a:off x="999768" y="273274"/>
            <a:ext cx="8423077" cy="3832715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8F8DCFD3-C635-4F18-A919-585E3F266F17}"/>
              </a:ext>
            </a:extLst>
          </p:cNvPr>
          <p:cNvSpPr txBox="1"/>
          <p:nvPr/>
        </p:nvSpPr>
        <p:spPr>
          <a:xfrm>
            <a:off x="9621204" y="3328820"/>
            <a:ext cx="42154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dirty="0">
                <a:hlinkClick r:id="rId4"/>
              </a:rPr>
              <a:t>https://continental-team-qnfsrwf451.atlassian.net/jira/software/projects/SCRUM/boards/1/timeline?atlOrigin=eyJpIjoiOGI3M2Q2MzIxMTdiNGU1ZWI3NTRjYTdmYjEzZTg2ZTUiLCJwIjoiaiJ9</a:t>
            </a:r>
            <a:endParaRPr lang="es-PE" dirty="0"/>
          </a:p>
          <a:p>
            <a:endParaRPr lang="es-PE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5C3CC32-3799-483A-B06C-66048F0C22A7}"/>
              </a:ext>
            </a:extLst>
          </p:cNvPr>
          <p:cNvSpPr txBox="1"/>
          <p:nvPr/>
        </p:nvSpPr>
        <p:spPr>
          <a:xfrm>
            <a:off x="9724191" y="2959488"/>
            <a:ext cx="2686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Link del Scrum:</a:t>
            </a:r>
            <a:endParaRPr lang="es-PE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2E4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3179" y="589478"/>
            <a:ext cx="5287923" cy="7050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588175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Conclusiones, lecciones y recomendaciones</a:t>
            </a:r>
            <a:endParaRPr lang="en-US" sz="3100" b="1" dirty="0"/>
          </a:p>
        </p:txBody>
      </p:sp>
      <p:sp>
        <p:nvSpPr>
          <p:cNvPr id="5" name="Text 2"/>
          <p:cNvSpPr/>
          <p:nvPr/>
        </p:nvSpPr>
        <p:spPr>
          <a:xfrm>
            <a:off x="793790" y="2878098"/>
            <a:ext cx="7556421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Conclusiones: la digitalización del triaje reduce </a:t>
            </a:r>
            <a:r>
              <a:rPr lang="en-US" sz="15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variabilidad diagnóstica y mejora priorización</a:t>
            </a:r>
            <a:r>
              <a:rPr lang="en-US" sz="1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; aplicar </a:t>
            </a:r>
            <a:r>
              <a:rPr lang="en-US" sz="15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ISO 25010 y 29148 garantiza calidad y trazabilidad</a:t>
            </a:r>
            <a:r>
              <a:rPr lang="en-US" sz="1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Lecciones: la ingeniería de requisitos y la usabilidad son críticas; </a:t>
            </a:r>
            <a:r>
              <a:rPr lang="en-US" sz="15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SCRUM facilitó la gestión</a:t>
            </a:r>
            <a:r>
              <a:rPr lang="en-US" sz="1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</a:t>
            </a:r>
            <a:r>
              <a:rPr lang="en-US" sz="15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Recomendaciones: </a:t>
            </a:r>
            <a:r>
              <a:rPr lang="en-US" sz="1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migrar a microservicios para escalabilidad, integrar HL7 FHIR, añadir cifrado (AES-256) y MFA, y desarrollar dashboards de BI para decisiones operativas.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5080992"/>
            <a:ext cx="253269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Referencias y anexos</a:t>
            </a:r>
            <a:endParaRPr lang="en-US" sz="1950" b="1" dirty="0"/>
          </a:p>
        </p:txBody>
      </p:sp>
      <p:sp>
        <p:nvSpPr>
          <p:cNvPr id="7" name="Text 4"/>
          <p:cNvSpPr/>
          <p:nvPr/>
        </p:nvSpPr>
        <p:spPr>
          <a:xfrm>
            <a:off x="793790" y="5688806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 incluyen referencias </a:t>
            </a:r>
            <a:r>
              <a:rPr lang="en-US" sz="15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ISO 25010 e ISO 29148, NTS MINSA, BPMN 2.0</a:t>
            </a:r>
            <a:r>
              <a:rPr lang="en-US" sz="1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y publicaciones de ingeniería de software. </a:t>
            </a:r>
            <a:r>
              <a:rPr lang="en-US" sz="15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Anexos: capturas de Jira.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1484</Words>
  <Application>Microsoft Office PowerPoint</Application>
  <PresentationFormat>Personalizado</PresentationFormat>
  <Paragraphs>136</Paragraphs>
  <Slides>13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4" baseType="lpstr">
      <vt:lpstr>Dubai Medium</vt:lpstr>
      <vt:lpstr>MS Gothic</vt:lpstr>
      <vt:lpstr>Funnel Sans</vt:lpstr>
      <vt:lpstr>Times New Roman</vt:lpstr>
      <vt:lpstr>Kozuka Gothic Pro M</vt:lpstr>
      <vt:lpstr>Mona Sans Semi Bold</vt:lpstr>
      <vt:lpstr>Lucida Sans</vt:lpstr>
      <vt:lpstr>Maiandra GD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Alumno</dc:creator>
  <cp:lastModifiedBy>Alumno</cp:lastModifiedBy>
  <cp:revision>7</cp:revision>
  <dcterms:created xsi:type="dcterms:W3CDTF">2026-04-29T14:11:16Z</dcterms:created>
  <dcterms:modified xsi:type="dcterms:W3CDTF">2026-04-29T15:04:54Z</dcterms:modified>
</cp:coreProperties>
</file>